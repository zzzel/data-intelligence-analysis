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2286000"/>
            <a:ext cx="1828800" cy="1828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31920" y="2560320"/>
            <a:ext cx="1828800" cy="1828800"/>
          </a:xfrm>
          <a:prstGeom prst="rect">
            <a:avLst/>
          </a:prstGeom>
          <a:solidFill>
            <a:srgbClr val="1A3A5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SCM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供应链管理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BF4FF"/>
                </a:solidFill>
                <a:latin typeface="Arial"/>
              </a:rPr>
              <a:t>Supply Chain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BF4FF"/>
                </a:solidFill>
                <a:latin typeface="Microsoft YaHei"/>
              </a:rPr>
              <a:t>V1.0  |  2024-10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18096"/>
                </a:solidFill>
                <a:latin typeface="Microsoft YaHei"/>
              </a:rPr>
              <a:t>供应链管理基础培训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68580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1A3A5C"/>
                </a:solidFill>
                <a:latin typeface="Microsoft YaHei"/>
              </a:rPr>
              <a:t>从战略到执行</a:t>
            </a:r>
          </a:p>
          <a:p>
            <a:pPr algn="l"/>
            <a:r>
              <a:rPr sz="4000" b="1">
                <a:solidFill>
                  <a:srgbClr val="1A3A5C"/>
                </a:solidFill>
                <a:latin typeface="Microsoft YaHei"/>
              </a:rPr>
              <a:t>构建端到端供应链能力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Microsoft YaHei"/>
              </a:rPr>
              <a:t>主讲：供应链研究院 专家团队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Microsoft YaHei"/>
              </a:rPr>
              <a:t>培训对象：采购、计划、物流、运营管理者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1206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Microsoft YaHei"/>
              </a:rPr>
              <a:t>课时：2 天  |  形式：讲授 + 案例 + 工作坊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9436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5282"/>
                </a:solidFill>
                <a:latin typeface="Microsoft YaHei"/>
              </a:rPr>
              <a:t>— 知识就是力量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培训目录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供应链管理概述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7276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定义、价值、演进、核心目标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1280160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2801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供应链结构与模式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57276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网络结构、推拉式、精益敏捷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05740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供应链战略与设计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5000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SCOR 框架、战略选择、关键决策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574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05740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供应商管理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5000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分类分级、评估考核、关系管理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2834639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34639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83463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采购与成本控制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127247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TCO 思维、招标议价、VA/VE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2834639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834639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83463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物流与配送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27247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仓储、运输、路径优化、逆向物流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3611879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11879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118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数字化与 AI 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904487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控制塔、S&amp;OP、AI 预测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3611879"/>
            <a:ext cx="548640" cy="5486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611879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118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风险与韧性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904487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Microsoft YaHei"/>
              </a:rPr>
              <a:t>多源采购、安全库存、应急体系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5282"/>
                </a:solidFill>
                <a:latin typeface="Microsoft YaHei"/>
              </a:rPr>
              <a:t>学习目标：建立供应链端到端思维，掌握关键方法论与工具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01  供应链管理概述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Microsoft YaHei"/>
              </a:rPr>
              <a:t>1.1 什么是供应链管理 (SCM)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Microsoft YaHei"/>
              </a:rPr>
              <a:t>供应链管理是以客户需求为导向，以核心企业为枢纽，通过系统化控制信息流、物流、资金流，将供应商、制造商、分销商、零售商直到最终用户连成整体功能网链的管理模式。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5282"/>
                </a:solidFill>
                <a:latin typeface="Microsoft YaHei"/>
              </a:rPr>
              <a:t>核心思想：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端到端视角 — 突破组织壁垒，关注全链路总成本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客户价值导向 — 所有流程起点均为客户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协同与共赢 — 上下游一体化规划与执行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数字化使能 — 数据驱动决策，可视化优先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7899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1.2 五大核心目标 (TQCSA)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45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Arial"/>
              </a:rP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Microsoft YaHei"/>
              </a:rPr>
              <a:t>缩短交付周期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468880"/>
            <a:ext cx="548640" cy="54864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Arial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7889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Microsoft YaHei"/>
              </a:rPr>
              <a:t>保证产品质量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337560"/>
            <a:ext cx="548640" cy="548640"/>
          </a:xfrm>
          <a:prstGeom prst="ellipse">
            <a:avLst/>
          </a:prstGeom>
          <a:solidFill>
            <a:srgbClr val="429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83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Arial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576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Microsoft YaHei"/>
              </a:rPr>
              <a:t>降低总成本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206240"/>
            <a:ext cx="548640" cy="54864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062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51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Arial"/>
              </a:rPr>
              <a:t>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5262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Microsoft YaHei"/>
              </a:rPr>
              <a:t>提升服务水平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5074920"/>
            <a:ext cx="548640" cy="54864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0749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1206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Arial"/>
              </a:rPr>
              <a:t>Agility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9496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Microsoft YaHei"/>
              </a:rPr>
              <a:t>增强响应柔性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供应链管理的五个演进阶段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3520440"/>
            <a:ext cx="274320" cy="274320"/>
          </a:xfrm>
          <a:prstGeom prst="ellipse">
            <a:avLst/>
          </a:prstGeom>
          <a:solidFill>
            <a:srgbClr val="90A4A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2011680" cy="4572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1980s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MRP / MRPII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Microsoft YaHei"/>
              </a:rPr>
              <a:t>企业内部物料需求计划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计划为主</a:t>
            </a:r>
          </a:p>
        </p:txBody>
      </p:sp>
      <p:sp>
        <p:nvSpPr>
          <p:cNvPr id="14" name="Oval 13"/>
          <p:cNvSpPr/>
          <p:nvPr/>
        </p:nvSpPr>
        <p:spPr>
          <a:xfrm>
            <a:off x="3749040" y="3520440"/>
            <a:ext cx="274320" cy="274320"/>
          </a:xfrm>
          <a:prstGeom prst="ellipse">
            <a:avLst/>
          </a:prstGeom>
          <a:solidFill>
            <a:srgbClr val="4295F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1097280"/>
            <a:ext cx="2011680" cy="457200"/>
          </a:xfrm>
          <a:prstGeom prst="rect">
            <a:avLst/>
          </a:prstGeom>
          <a:solidFill>
            <a:srgbClr val="429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1990s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6916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19456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Microsoft YaHei"/>
              </a:rPr>
              <a:t>整合财务、采购、库存、销售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572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职能整合</a:t>
            </a:r>
          </a:p>
        </p:txBody>
      </p:sp>
      <p:sp>
        <p:nvSpPr>
          <p:cNvPr id="20" name="Oval 19"/>
          <p:cNvSpPr/>
          <p:nvPr/>
        </p:nvSpPr>
        <p:spPr>
          <a:xfrm>
            <a:off x="6080760" y="3520440"/>
            <a:ext cx="274320" cy="274320"/>
          </a:xfrm>
          <a:prstGeom prst="ellipse">
            <a:avLst/>
          </a:prstGeom>
          <a:solidFill>
            <a:srgbClr val="29B6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1097280"/>
            <a:ext cx="2011680" cy="4572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2000s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6916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SCM 成熟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19456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Microsoft YaHei"/>
              </a:rPr>
              <a:t>JIT、VMI、CPFR 等协同模式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572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协同优化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0" y="3520440"/>
            <a:ext cx="274320" cy="274320"/>
          </a:xfrm>
          <a:prstGeom prst="ellipse">
            <a:avLst/>
          </a:prstGeom>
          <a:solidFill>
            <a:srgbClr val="26A6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097280"/>
            <a:ext cx="2011680" cy="4572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2010s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6916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数字化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19456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Microsoft YaHei"/>
              </a:rPr>
              <a:t>物联网、大数据、云计算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572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智能可视</a:t>
            </a:r>
          </a:p>
        </p:txBody>
      </p:sp>
      <p:sp>
        <p:nvSpPr>
          <p:cNvPr id="32" name="Oval 31"/>
          <p:cNvSpPr/>
          <p:nvPr/>
        </p:nvSpPr>
        <p:spPr>
          <a:xfrm>
            <a:off x="10744199" y="3520440"/>
            <a:ext cx="274320" cy="2743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59" y="1097280"/>
            <a:ext cx="201168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9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2020s+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16916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新供应链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219456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Microsoft YaHei"/>
              </a:rPr>
              <a:t>韧性 + 绿色 + 智能 三位一体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4572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价值重构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D3748"/>
                </a:solidFill>
                <a:latin typeface="Microsoft YaHei"/>
              </a:rPr>
              <a:t>从"内部优化"走向"端到端协同"，再向"价值网络"演化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Microsoft YaHei"/>
              </a:rPr>
              <a:t>当前关键词：韧性（Resilience）、绿色（Sustainability）、智能（Intelligence）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02  供应链结构与运作模式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2.1 供应链网络节点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868680" cy="86868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原材料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325880" y="1920240"/>
            <a:ext cx="137160" cy="13716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1554480"/>
            <a:ext cx="868680" cy="86868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零部件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制造商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6000" y="1920240"/>
            <a:ext cx="137160" cy="13716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40" y="1554480"/>
            <a:ext cx="868680" cy="86868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成品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组装商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46120" y="1920240"/>
            <a:ext cx="137160" cy="13716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37560" y="1554480"/>
            <a:ext cx="868680" cy="86868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一级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分销商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06240" y="1920240"/>
            <a:ext cx="137160" cy="13716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97680" y="1554480"/>
            <a:ext cx="868680" cy="86868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零售商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66360" y="1920240"/>
            <a:ext cx="137160" cy="13716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57800" y="1554480"/>
            <a:ext cx="868680" cy="86868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155448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终端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消费者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Microsoft YaHei"/>
              </a:rPr>
              <a:t>价值流：物料流（→） + 信息流（⇄） + 资金流（←）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2.2 五大运作模式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554480"/>
            <a:ext cx="5303520" cy="6400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60020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Microsoft YaHei"/>
              </a:rPr>
              <a:t>推动式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745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</a:rPr>
              <a:t>基于预测，库存前置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737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2D3748"/>
                </a:solidFill>
                <a:latin typeface="Microsoft YaHei"/>
              </a:rPr>
              <a:t>适用：需求稳定产品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331720"/>
            <a:ext cx="5303520" cy="6400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3774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拉动式 Pull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订单驱动，JIT 配送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5146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适用：需求波动大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108960"/>
            <a:ext cx="5303520" cy="640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15468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推拉结合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29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关键节点拉动+其余推动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2918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适用：差异化产品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886200"/>
            <a:ext cx="5303520" cy="64008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93192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敏捷供应链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2062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快速响应 + 高度柔性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06908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适用：时尚季节性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663440"/>
            <a:ext cx="5303520" cy="640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7091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精益供应链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983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消除浪费 + TOC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8463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适用：标准化大批量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5282"/>
                </a:solidFill>
                <a:latin typeface="Microsoft YaHei"/>
              </a:rPr>
              <a:t>选择策略：匹配产品特征 + 客户期望 + 自身能力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</a:rPr>
              <a:t>"没有最好的模式，只有最合适的组合"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  SCOR 模型：供应链战略框架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Microsoft YaHei"/>
              </a:rPr>
              <a:t>SCOR (Supply Chain Operations Reference) 是业界最广泛采用的供应链流程标准框架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1143000"/>
            <a:ext cx="1371600" cy="1371600"/>
          </a:xfrm>
          <a:prstGeom prst="ellipse">
            <a:avLst/>
          </a:prstGeom>
          <a:solidFill>
            <a:srgbClr val="1A3A5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28016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830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103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计划</a:t>
            </a:r>
          </a:p>
        </p:txBody>
      </p:sp>
      <p:sp>
        <p:nvSpPr>
          <p:cNvPr id="12" name="Oval 11"/>
          <p:cNvSpPr/>
          <p:nvPr/>
        </p:nvSpPr>
        <p:spPr>
          <a:xfrm>
            <a:off x="6997092" y="2406669"/>
            <a:ext cx="1371600" cy="1371600"/>
          </a:xfrm>
          <a:prstGeom prst="ellipse">
            <a:avLst/>
          </a:prstGeom>
          <a:solidFill>
            <a:srgbClr val="2C528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7092" y="2543829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7092" y="304674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092" y="336678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采购</a:t>
            </a:r>
          </a:p>
        </p:txBody>
      </p:sp>
      <p:sp>
        <p:nvSpPr>
          <p:cNvPr id="16" name="Oval 15"/>
          <p:cNvSpPr/>
          <p:nvPr/>
        </p:nvSpPr>
        <p:spPr>
          <a:xfrm>
            <a:off x="6332741" y="4451330"/>
            <a:ext cx="1371600" cy="1371600"/>
          </a:xfrm>
          <a:prstGeom prst="ellipse">
            <a:avLst/>
          </a:prstGeom>
          <a:solidFill>
            <a:srgbClr val="ED893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2741" y="458849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741" y="509141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741" y="541145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生产</a:t>
            </a:r>
          </a:p>
        </p:txBody>
      </p:sp>
      <p:sp>
        <p:nvSpPr>
          <p:cNvPr id="20" name="Oval 19"/>
          <p:cNvSpPr/>
          <p:nvPr/>
        </p:nvSpPr>
        <p:spPr>
          <a:xfrm>
            <a:off x="4182858" y="4451330"/>
            <a:ext cx="1371600" cy="1371600"/>
          </a:xfrm>
          <a:prstGeom prst="ellipse">
            <a:avLst/>
          </a:prstGeom>
          <a:solidFill>
            <a:srgbClr val="38A169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2858" y="458849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2858" y="509141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2858" y="541145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24" name="Oval 23"/>
          <p:cNvSpPr/>
          <p:nvPr/>
        </p:nvSpPr>
        <p:spPr>
          <a:xfrm>
            <a:off x="3518507" y="2406669"/>
            <a:ext cx="1371600" cy="1371600"/>
          </a:xfrm>
          <a:prstGeom prst="ellipse">
            <a:avLst/>
          </a:prstGeom>
          <a:solidFill>
            <a:srgbClr val="AB47B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8507" y="2543829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8507" y="304674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8507" y="336678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逆向</a:t>
            </a:r>
          </a:p>
        </p:txBody>
      </p:sp>
      <p:sp>
        <p:nvSpPr>
          <p:cNvPr id="28" name="Oval 27"/>
          <p:cNvSpPr/>
          <p:nvPr/>
        </p:nvSpPr>
        <p:spPr>
          <a:xfrm>
            <a:off x="5394960" y="3108960"/>
            <a:ext cx="1097280" cy="1097280"/>
          </a:xfrm>
          <a:prstGeom prst="ellipse">
            <a:avLst/>
          </a:prstGeom>
          <a:solidFill>
            <a:srgbClr val="F7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2461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Arial"/>
              </a:rPr>
              <a:t>Enable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5661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Microsoft YaHei"/>
              </a:rPr>
              <a:t>使能层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Microsoft YaHei"/>
              </a:rPr>
              <a:t>管理层面 → 流程层面 → 配置层面 → 实施层面，逐层落地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Microsoft YaHei"/>
              </a:rPr>
              <a:t>涵盖流程、指标、最佳实践、人员 — 形成闭环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  供应商管理：Kraljic 采购组合矩阵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80160"/>
            <a:ext cx="7315200" cy="4572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36576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4173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战略型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建立战略联盟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长协 + 联合研发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BF4FF"/>
                </a:solidFill>
                <a:latin typeface="Microsoft YaHei"/>
              </a:rPr>
              <a:t>高金额 + 高风险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80160"/>
            <a:ext cx="3657600" cy="2286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4173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杠杆型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9659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公开招标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压价 + 标准化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BF4FF"/>
                </a:solidFill>
                <a:latin typeface="Microsoft YaHei"/>
              </a:rPr>
              <a:t>高金额 + 低风险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566160"/>
            <a:ext cx="3657600" cy="2286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7033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瓶颈型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519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安全库存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双源 + 辅助开发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94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BF4FF"/>
                </a:solidFill>
                <a:latin typeface="Microsoft YaHei"/>
              </a:rPr>
              <a:t>低金额 + 高风险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566160"/>
            <a:ext cx="3657600" cy="2286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7033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常规型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2519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电子化采购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批次管理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394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BF4FF"/>
                </a:solidFill>
                <a:latin typeface="Microsoft YaHei"/>
              </a:rPr>
              <a:t>低金额 + 低风险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9144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Microsoft YaHei"/>
              </a:rPr>
              <a:t>←  供应风险  ↑    ↓  供应风险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1280160"/>
            <a:ext cx="274320" cy="4572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Microsoft YaHei"/>
              </a:rPr>
              <a:t>采 购 金 额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56616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Microsoft YaHei"/>
              </a:rPr>
              <a:t>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128016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Microsoft YaHei"/>
              </a:rPr>
              <a:t>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2801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Microsoft YaHei"/>
              </a:rPr>
              <a:t>管理策略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7373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战略型：与供应商建立长期战略联盟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杠杆型：通过招标获取最优价格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瓶颈型：保障供应、降低断供风险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常规型：流程化、降低管理成本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C5282"/>
                </a:solidFill>
                <a:latin typeface="Microsoft YaHei"/>
              </a:rPr>
              <a:t>根据"供应风险 × 采购金额"对品类分类，差异化制定采购策略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05  采购成本控制：TCO 思维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Microsoft YaHei"/>
              </a:rPr>
              <a:t>TCO = Total Cost of Ownership，总拥有成本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5282"/>
                </a:solidFill>
                <a:latin typeface="Microsoft YaHei"/>
              </a:rPr>
              <a:t>采购价格的"冰山模型"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029200" cy="365760"/>
          </a:xfrm>
          <a:prstGeom prst="rect">
            <a:avLst/>
          </a:prstGeom>
          <a:solidFill>
            <a:srgbClr val="429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水面之上：采购单价（60-70%）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029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47548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●  水面之下：隐性成本（30-40%）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• 库存持有成本：资金占用 + 仓储 + 保险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7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• 质量成本：不良 + 返工 + 售后 + 召回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6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• 缺货成本：停工 + 紧急运费 + 客户赔付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66744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• 交易成本：招标 + 合同 + 对账 + 催货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• 机会成本：占用的资源无法投入高价值活动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55448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5282"/>
                </a:solidFill>
                <a:latin typeface="Microsoft YaHei"/>
              </a:rPr>
              <a:t>案例：注塑机采购 TCO 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920240"/>
            <a:ext cx="5760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Microsoft YaHei"/>
              </a:rPr>
              <a:t>（5 年使用周期，单位：万元）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286000"/>
            <a:ext cx="21031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成本项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286000"/>
            <a:ext cx="1828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2860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供应商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286000"/>
            <a:ext cx="1828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2860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供应商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578608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578608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设备采购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57860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57860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57860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57860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320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871216"/>
            <a:ext cx="210312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871216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运输安装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871216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287121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871216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87121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163824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3163824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能耗（5年）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163824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16382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180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3163824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16382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120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456432"/>
            <a:ext cx="210312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345643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维护保养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456432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345643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3456432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345643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374904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374904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备件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3749040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37490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3749040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37490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041648"/>
            <a:ext cx="210312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4041648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停机损失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4041648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0" y="404164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4041648"/>
            <a:ext cx="1828800" cy="292608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404164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4334256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0" y="4334256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残值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4334256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433425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-30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75520" y="4334256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520" y="433425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</a:rPr>
              <a:t>-50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4626864"/>
            <a:ext cx="2103120" cy="292608"/>
          </a:xfrm>
          <a:prstGeom prst="rect">
            <a:avLst/>
          </a:prstGeom>
          <a:solidFill>
            <a:srgbClr val="ED893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4626864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TCO 合计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4626864"/>
            <a:ext cx="1828800" cy="292608"/>
          </a:xfrm>
          <a:prstGeom prst="rect">
            <a:avLst/>
          </a:prstGeom>
          <a:solidFill>
            <a:srgbClr val="ED893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0" y="462686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585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4626864"/>
            <a:ext cx="1828800" cy="292608"/>
          </a:xfrm>
          <a:prstGeom prst="rect">
            <a:avLst/>
          </a:prstGeom>
          <a:solidFill>
            <a:srgbClr val="ED893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0" y="462686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463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50292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D8936"/>
                </a:solidFill>
                <a:latin typeface="Microsoft YaHei"/>
              </a:rPr>
              <a:t>关键启示：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0" y="539496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供应商 A 表面便宜 40 万，但 TCO 反而贵 122 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节能、稳定、备件通用是隐藏的价值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2D3748"/>
                </a:solidFill>
                <a:latin typeface="Microsoft YaHei"/>
              </a:rPr>
              <a:t>●  采购决策必须用 TCO 而非单价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06  物流配送：网络与优化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6.1 三级物流网络架构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9144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前置仓 FSL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30 个城市级前置仓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一二线核心城市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317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C5282"/>
                </a:solidFill>
                <a:latin typeface="Microsoft YaHe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5486400" cy="9144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区域 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7 个区域配送中心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覆盖 7 大区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C5282"/>
                </a:solidFill>
                <a:latin typeface="Microsoft YaHe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中央 RDC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上海/广州/成都 3 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977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全国主干网络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6.2 配送路径优化 (VRP)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Microsoft YaHei"/>
              </a:rPr>
              <a:t>经典问题与求解方法：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164592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VRP / VRPTW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965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</a:rPr>
              <a:t>基础问题 + 时间窗约束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77440"/>
            <a:ext cx="164592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774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23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</a:rPr>
              <a:t>取送货一体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34640"/>
            <a:ext cx="164592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DVRP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8803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</a:rPr>
              <a:t>动态实时调度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747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Microsoft YaHei"/>
              </a:rPr>
              <a:t>算法选择：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>
                <a:solidFill>
                  <a:srgbClr val="2D3748"/>
                </a:solidFill>
                <a:latin typeface="Microsoft YaHei"/>
              </a:rPr>
              <a:t>●  • 小规模（&lt; 50 节点）：精确算法（分支定界、动态规划）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>
                <a:solidFill>
                  <a:srgbClr val="2D3748"/>
                </a:solidFill>
                <a:latin typeface="Microsoft YaHei"/>
              </a:rPr>
              <a:t>●  • 中等规模：启发式（Clarke-Wright 节约法、扫描法）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>
                <a:solidFill>
                  <a:srgbClr val="2D3748"/>
                </a:solidFill>
                <a:latin typeface="Microsoft YaHei"/>
              </a:rPr>
              <a:t>●  • 大规模：元启发式（GA、TS、SA、ACO）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>
                <a:solidFill>
                  <a:srgbClr val="2D3748"/>
                </a:solidFill>
                <a:latin typeface="Microsoft YaHei"/>
              </a:rPr>
              <a:t>●  • 商业求解器：Gurobi、CPLEX、OR-Tools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486400"/>
            <a:ext cx="5486400" cy="640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实战案例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7607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某城配：行驶里程 ↓ 30.5%，车辆利用率 65% → 89%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07  数字化与 AI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Microsoft YaHei"/>
              </a:rPr>
              <a:t>数字化成熟度四阶段：从工具到智能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743200" cy="201168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L1 初始级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Excel 为主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部门级系统孤立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54480"/>
            <a:ext cx="2743200" cy="2011680"/>
          </a:xfrm>
          <a:prstGeom prst="rect">
            <a:avLst/>
          </a:prstGeom>
          <a:solidFill>
            <a:srgbClr val="429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691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L2 集成级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031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ERP+SRM+TMS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基础集成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743200" cy="20116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91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L3 协同级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1031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S&amp;OP+控制塔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AI 试点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554480"/>
            <a:ext cx="2743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91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L4 智能级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1031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端到端数字孪生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AI 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Microsoft YaHei"/>
              </a:rPr>
              <a:t>AI 在供应链的核心应用场景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89120"/>
            <a:ext cx="2194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2194560" cy="457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891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需求预测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3776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XGBoost/LSTM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准确率 +15pp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89120"/>
            <a:ext cx="2194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97479" y="4389120"/>
            <a:ext cx="219456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43891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库存优化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79" y="493776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强化学习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缺货 ↓ 50%+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4389120"/>
            <a:ext cx="2194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0" y="4389120"/>
            <a:ext cx="219456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43891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供应商风险预警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3776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NLP+图计算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提前 30 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19" y="4389120"/>
            <a:ext cx="2194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19" y="4389120"/>
            <a:ext cx="219456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43891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路径优化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493776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OR-Tools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成本 ↓ 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4389120"/>
            <a:ext cx="2194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92640" y="4389120"/>
            <a:ext cx="2194560" cy="4572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3891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智能合同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93776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LLM 文档处理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</a:rPr>
              <a:t>效率 +60%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D8936"/>
                </a:solidFill>
                <a:latin typeface="Microsoft YaHei"/>
              </a:rPr>
              <a:t>AI 不替代人，而是放大人的能力 — 决策权仍在人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08  风险与韧性建设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Microsoft YaHei"/>
              </a:rPr>
              <a:t>从 VUCA 走向 BANI：供应链不确定性的新时代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BANI 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486400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Brittle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脆弱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看似坚固，实则一点即溃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486400" cy="7315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Anxious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焦虑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632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不确定性引发过度反应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7315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59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Non-linear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799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非线性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31919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小事件可能引发大后果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5486400" cy="7315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Incomprehensible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不可理解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00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因果关系难以把握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Microsoft YaHei"/>
              </a:rPr>
              <a:t>韧性建设"四件套"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0574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Microsoft YaHei"/>
              </a:rPr>
              <a:t>多源采购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377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Microsoft YaHei"/>
              </a:rPr>
              <a:t>关键物料 ≥ 2 家  ·  合格供应商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880360"/>
            <a:ext cx="640080" cy="64008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803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926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Microsoft YaHei"/>
              </a:rPr>
              <a:t>安全库存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Microsoft YaHei"/>
              </a:rPr>
              <a:t>战略物料高水位  ·  1.5-2 倍均值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749039"/>
            <a:ext cx="640080" cy="64008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49039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794759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Microsoft YaHei"/>
              </a:rPr>
              <a:t>应急产能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11479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Microsoft YaHei"/>
              </a:rPr>
              <a:t>备份工厂 + 协议产能  ·  快速切换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4617720"/>
            <a:ext cx="640080" cy="64008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617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663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Microsoft YaHei"/>
              </a:rPr>
              <a:t>数字控制塔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98348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Microsoft YaHei"/>
              </a:rPr>
              <a:t>端到端可视化  ·  实时预警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D8936"/>
                </a:solidFill>
                <a:latin typeface="Microsoft YaHei"/>
              </a:rPr>
              <a:t>韧性不是成本中心，而是竞争力 — 抗风险能力就是盈利能力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关键收获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2560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112772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供应链管理培训 · 供应链研究院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Microsoft YaHei"/>
              </a:rPr>
              <a:t>5 个关键认知  |  3 个落地行动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5282"/>
                </a:solidFill>
                <a:latin typeface="Microsoft YaHei"/>
              </a:rPr>
              <a:t>5 大关键认知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端到端思维：突破组织壁垒，看全链路总成本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客户价值导向：所有流程的起点都是客户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数据驱动决策：没有数据底座，AI 是空中楼阁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韧性是竞争力：抗风险能力就是盈利能力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>
                <a:solidFill>
                  <a:srgbClr val="2D3748"/>
                </a:solidFill>
                <a:latin typeface="Microsoft YaHei"/>
              </a:rPr>
              <a:t>●  可持续是新标准：ESG 已从披露走向管理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5282"/>
                </a:solidFill>
                <a:latin typeface="Microsoft YaHei"/>
              </a:rPr>
              <a:t>3 个落地行动（30 天内）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0352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9456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梳理本岗位的"端到端流程图"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603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BF4FF"/>
                </a:solidFill>
                <a:latin typeface="Microsoft YaHei"/>
              </a:rPr>
              <a:t>识别 3 个最痛断点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30352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2004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建立个人 KPI 的"供应链视角"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6616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BF4FF"/>
                </a:solidFill>
                <a:latin typeface="Microsoft YaHei"/>
              </a:rPr>
              <a:t>让上下游指标可见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30352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062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启动一次"假设分析"演练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5720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BF4FF"/>
                </a:solidFill>
                <a:latin typeface="Microsoft YaHei"/>
              </a:rPr>
              <a:t>模拟黑天鹅事件响应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D8936"/>
                </a:solidFill>
                <a:latin typeface="Microsoft YaHei"/>
              </a:rPr>
              <a:t>愿你成为"新供应链"时代的领跑者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5282"/>
                </a:solidFill>
                <a:latin typeface="Arial"/>
              </a:rPr>
              <a:t>Thank You !  |  供应链研究院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{"Label":"1","ContentProducer":"MiniMax AI","ProduceID":"user:516404144421060611/node:439133827592621/ts:1788763894559","ReservedCode1":"","ContentPropagator":"MiniMax AI","PropagateID":"user:516404144421060611/node:439133827592621/ts:1788763894559","ReservedCode2":""}</vt:lpwstr>
  </property>
</Properties>
</file>